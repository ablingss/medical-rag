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2508243e504b6f" /><Relationship Type="http://schemas.openxmlformats.org/officeDocument/2006/relationships/extended-properties" Target="/docProps/app.xml" Id="Ra4ca208c1a8f48af" /><Relationship Type="http://schemas.openxmlformats.org/officeDocument/2006/relationships/officeDocument" Target="/ppt/presentation.xml" Id="R46d7a55acf164d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892c0f4eb14fac"/>
  </p:sldMasterIdLst>
  <p:notesMasterIdLst>
    <p:notesMasterId xmlns:r="http://schemas.openxmlformats.org/officeDocument/2006/relationships" r:id="Rf9e087b932004645"/>
  </p:notesMasterIdLst>
  <p:sldIdLst>
    <p:sldId xmlns:r="http://schemas.openxmlformats.org/officeDocument/2006/relationships" id="256" r:id="Ra8a5bc6a53c1424a"/>
    <p:sldId xmlns:r="http://schemas.openxmlformats.org/officeDocument/2006/relationships" id="257" r:id="Rfc5f4941c31c4611"/>
    <p:sldId xmlns:r="http://schemas.openxmlformats.org/officeDocument/2006/relationships" id="258" r:id="R3079c86336c24f51"/>
    <p:sldId xmlns:r="http://schemas.openxmlformats.org/officeDocument/2006/relationships" id="259" r:id="Reee2af8913d241d6"/>
    <p:sldId xmlns:r="http://schemas.openxmlformats.org/officeDocument/2006/relationships" id="260" r:id="Rdf8c6d77bd0a4db0"/>
    <p:sldId xmlns:r="http://schemas.openxmlformats.org/officeDocument/2006/relationships" id="261" r:id="R1503e4c56de64cdc"/>
    <p:sldId xmlns:r="http://schemas.openxmlformats.org/officeDocument/2006/relationships" id="262" r:id="R3bc3eb744e714c4f"/>
    <p:sldId xmlns:r="http://schemas.openxmlformats.org/officeDocument/2006/relationships" id="263" r:id="R32a78b25a92e42ab"/>
    <p:sldId xmlns:r="http://schemas.openxmlformats.org/officeDocument/2006/relationships" id="264" r:id="Ra195c45db49b4a5b"/>
    <p:sldId xmlns:r="http://schemas.openxmlformats.org/officeDocument/2006/relationships" id="265" r:id="R1a3ee82db8ef4244"/>
    <p:sldId xmlns:r="http://schemas.openxmlformats.org/officeDocument/2006/relationships" id="266" r:id="R8d9e44ea3980424a"/>
    <p:sldId xmlns:r="http://schemas.openxmlformats.org/officeDocument/2006/relationships" id="267" r:id="R8880d8c270694e17"/>
    <p:sldId xmlns:r="http://schemas.openxmlformats.org/officeDocument/2006/relationships" id="268" r:id="R958208b9bc774939"/>
    <p:sldId xmlns:r="http://schemas.openxmlformats.org/officeDocument/2006/relationships" id="269" r:id="Rff44636b6f5b468f"/>
    <p:sldId xmlns:r="http://schemas.openxmlformats.org/officeDocument/2006/relationships" id="270" r:id="Rfa2abf4980804042"/>
    <p:sldId xmlns:r="http://schemas.openxmlformats.org/officeDocument/2006/relationships" id="271" r:id="R4317e093f8724fcb"/>
    <p:sldId xmlns:r="http://schemas.openxmlformats.org/officeDocument/2006/relationships" id="272" r:id="R4eb16fdb034549fb"/>
    <p:sldId xmlns:r="http://schemas.openxmlformats.org/officeDocument/2006/relationships" id="273" r:id="Ra0168f960f88423e"/>
    <p:sldId xmlns:r="http://schemas.openxmlformats.org/officeDocument/2006/relationships" id="274" r:id="Rc62ab07de46e4617"/>
    <p:sldId xmlns:r="http://schemas.openxmlformats.org/officeDocument/2006/relationships" id="275" r:id="R44566e54fee540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06801bd880445e" /><Relationship Type="http://schemas.openxmlformats.org/officeDocument/2006/relationships/slideMaster" Target="/ppt/slideMasters/slideMaster1.xml" Id="R7f892c0f4eb14fac" /><Relationship Type="http://schemas.openxmlformats.org/officeDocument/2006/relationships/notesMaster" Target="/ppt/notesMasters/notesMaster1.xml" Id="Rf9e087b932004645" /><Relationship Type="http://schemas.openxmlformats.org/officeDocument/2006/relationships/presProps" Target="/ppt/presProps.xml" Id="Rf8eb55ec22f24b80" /><Relationship Type="http://schemas.openxmlformats.org/officeDocument/2006/relationships/tableStyles" Target="/ppt/tableStyles.xml" Id="Rd500f0c3983a47c1" /><Relationship Type="http://schemas.openxmlformats.org/officeDocument/2006/relationships/slide" Target="/ppt/slides/slide1.xml" Id="Ra8a5bc6a53c1424a" /><Relationship Type="http://schemas.openxmlformats.org/officeDocument/2006/relationships/slide" Target="/ppt/slides/slide2.xml" Id="Rfc5f4941c31c4611" /><Relationship Type="http://schemas.openxmlformats.org/officeDocument/2006/relationships/slide" Target="/ppt/slides/slide3.xml" Id="R3079c86336c24f51" /><Relationship Type="http://schemas.openxmlformats.org/officeDocument/2006/relationships/slide" Target="/ppt/slides/slide4.xml" Id="Reee2af8913d241d6" /><Relationship Type="http://schemas.openxmlformats.org/officeDocument/2006/relationships/slide" Target="/ppt/slides/slide5.xml" Id="Rdf8c6d77bd0a4db0" /><Relationship Type="http://schemas.openxmlformats.org/officeDocument/2006/relationships/slide" Target="/ppt/slides/slide6.xml" Id="R1503e4c56de64cdc" /><Relationship Type="http://schemas.openxmlformats.org/officeDocument/2006/relationships/slide" Target="/ppt/slides/slide7.xml" Id="R3bc3eb744e714c4f" /><Relationship Type="http://schemas.openxmlformats.org/officeDocument/2006/relationships/slide" Target="/ppt/slides/slide8.xml" Id="R32a78b25a92e42ab" /><Relationship Type="http://schemas.openxmlformats.org/officeDocument/2006/relationships/slide" Target="/ppt/slides/slide9.xml" Id="Ra195c45db49b4a5b" /><Relationship Type="http://schemas.openxmlformats.org/officeDocument/2006/relationships/slide" Target="/ppt/slides/slide10.xml" Id="R1a3ee82db8ef4244" /><Relationship Type="http://schemas.openxmlformats.org/officeDocument/2006/relationships/slide" Target="/ppt/slides/slide11.xml" Id="R8d9e44ea3980424a" /><Relationship Type="http://schemas.openxmlformats.org/officeDocument/2006/relationships/slide" Target="/ppt/slides/slide12.xml" Id="R8880d8c270694e17" /><Relationship Type="http://schemas.openxmlformats.org/officeDocument/2006/relationships/slide" Target="/ppt/slides/slide13.xml" Id="R958208b9bc774939" /><Relationship Type="http://schemas.openxmlformats.org/officeDocument/2006/relationships/slide" Target="/ppt/slides/slide14.xml" Id="Rff44636b6f5b468f" /><Relationship Type="http://schemas.openxmlformats.org/officeDocument/2006/relationships/slide" Target="/ppt/slides/slide15.xml" Id="Rfa2abf4980804042" /><Relationship Type="http://schemas.openxmlformats.org/officeDocument/2006/relationships/slide" Target="/ppt/slides/slide16.xml" Id="R4317e093f8724fcb" /><Relationship Type="http://schemas.openxmlformats.org/officeDocument/2006/relationships/slide" Target="/ppt/slides/slide17.xml" Id="R4eb16fdb034549fb" /><Relationship Type="http://schemas.openxmlformats.org/officeDocument/2006/relationships/slide" Target="/ppt/slides/slide18.xml" Id="Ra0168f960f88423e" /><Relationship Type="http://schemas.openxmlformats.org/officeDocument/2006/relationships/slide" Target="/ppt/slides/slide19.xml" Id="Rc62ab07de46e4617" /><Relationship Type="http://schemas.openxmlformats.org/officeDocument/2006/relationships/slide" Target="/ppt/slides/slide20.xml" Id="R44566e54fee540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f5ed5546de4c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80f777e82f437b" /><Relationship Type="http://schemas.openxmlformats.org/officeDocument/2006/relationships/notesMaster" Target="/ppt/notesMasters/notesMaster1.xml" Id="Re741ca24508e41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550ef9c83b4e62" /><Relationship Type="http://schemas.openxmlformats.org/officeDocument/2006/relationships/notesMaster" Target="/ppt/notesMasters/notesMaster1.xml" Id="Rb07790ced7b947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4f19160df24f62" /><Relationship Type="http://schemas.openxmlformats.org/officeDocument/2006/relationships/notesMaster" Target="/ppt/notesMasters/notesMaster1.xml" Id="R8515cca2c3e34b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2413f5696a4198" /><Relationship Type="http://schemas.openxmlformats.org/officeDocument/2006/relationships/notesMaster" Target="/ppt/notesMasters/notesMaster1.xml" Id="R65e1eec7a0ec42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eecc8e55894266" /><Relationship Type="http://schemas.openxmlformats.org/officeDocument/2006/relationships/notesMaster" Target="/ppt/notesMasters/notesMaster1.xml" Id="R79430be732c549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00b61393784876" /><Relationship Type="http://schemas.openxmlformats.org/officeDocument/2006/relationships/notesMaster" Target="/ppt/notesMasters/notesMaster1.xml" Id="R33f6afbaba874e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b83936cdb44136" /><Relationship Type="http://schemas.openxmlformats.org/officeDocument/2006/relationships/notesMaster" Target="/ppt/notesMasters/notesMaster1.xml" Id="R36f11aade8364d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0f4ef26f9e4cff" /><Relationship Type="http://schemas.openxmlformats.org/officeDocument/2006/relationships/notesMaster" Target="/ppt/notesMasters/notesMaster1.xml" Id="R59c6b06e61c145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1764d703434741" /><Relationship Type="http://schemas.openxmlformats.org/officeDocument/2006/relationships/notesMaster" Target="/ppt/notesMasters/notesMaster1.xml" Id="R2f1a5959add540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8c2fb248ef4cbf" /><Relationship Type="http://schemas.openxmlformats.org/officeDocument/2006/relationships/notesMaster" Target="/ppt/notesMasters/notesMaster1.xml" Id="R763682ff84c84a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646fe9b75240b9" /><Relationship Type="http://schemas.openxmlformats.org/officeDocument/2006/relationships/notesMaster" Target="/ppt/notesMasters/notesMaster1.xml" Id="Re49d5f23acff4b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2504173e254206" /><Relationship Type="http://schemas.openxmlformats.org/officeDocument/2006/relationships/notesMaster" Target="/ppt/notesMasters/notesMaster1.xml" Id="R9517bc64df8e40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fa9d8d98ed4953" /><Relationship Type="http://schemas.openxmlformats.org/officeDocument/2006/relationships/notesMaster" Target="/ppt/notesMasters/notesMaster1.xml" Id="R96b032f038434e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e1b346784f4f16" /><Relationship Type="http://schemas.openxmlformats.org/officeDocument/2006/relationships/notesMaster" Target="/ppt/notesMasters/notesMaster1.xml" Id="R7fe8f9a9d1ea42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f28e59d7324f46" /><Relationship Type="http://schemas.openxmlformats.org/officeDocument/2006/relationships/notesMaster" Target="/ppt/notesMasters/notesMaster1.xml" Id="R8bd03db7b8234be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cc2ab7acbc484f" /><Relationship Type="http://schemas.openxmlformats.org/officeDocument/2006/relationships/notesMaster" Target="/ppt/notesMasters/notesMaster1.xml" Id="Rcb37b3016bde47c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62b5838fd8436e" /><Relationship Type="http://schemas.openxmlformats.org/officeDocument/2006/relationships/notesMaster" Target="/ppt/notesMasters/notesMaster1.xml" Id="R3e4608e98e9143f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d195781321f45e0" /><Relationship Type="http://schemas.openxmlformats.org/officeDocument/2006/relationships/notesMaster" Target="/ppt/notesMasters/notesMaster1.xml" Id="R237ab97413a5472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6b1b8f7fb7040ba" /><Relationship Type="http://schemas.openxmlformats.org/officeDocument/2006/relationships/notesMaster" Target="/ppt/notesMasters/notesMaster1.xml" Id="R53eb400506504b9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d29f2f0551d4e83" /><Relationship Type="http://schemas.openxmlformats.org/officeDocument/2006/relationships/notesMaster" Target="/ppt/notesMasters/notesMaster1.xml" Id="R27addb73a59e44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封面只填项目名与实际成员信息。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依据课程PDF第1页。用真实学习情境说明选题，不将功能假设当调研结果。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以上是七项待验证假设的简写。正式汇报逐条展开七项痛点，并填实际调研对象、匿名原话与证据。详见报告第2章。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依据PDF第1页的使用场景要求。场景限定在课程学习。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依据PDF第1页预期能力加边界说明。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平台真实实现见README与server.js。模型接入文档 https://api-docs.deepseek.com/zh-cn/ 。本项目不训练基础模型，不要求依赖Coze。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依据PDF第1页阶段2模块要求。完整五模块对应表见报告第3章，需按实际调研修订。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对应独立提示词库.md和lib/prompts.js。版本、使用日期和教材版次待填写。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依据PDF第1至2页。粗放组仍统一JSON结构，应报告这一控制，不能声称完全无格式约束。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依据PDF第2页。必须记录测试序号、模块、主题、粗放和精细简评，以及关键截图。填入真实结果，不能使用接口可用性检查代替正式实验。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对应PDF第2页的已完成模块、应用PPT加在线介绍。上线地址待填写，课堂本机演示可用。截图必须标明模块和实际输入。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依据PDF第2页。3至5个用例，当前准备3个。原始提示、输出、现象、证据与结论待填写。频次分母需说明，失败与无法判定单列。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依据PDF第2页。3至5个任务，当前准备3个。先准备教材预期答案与支持片段。若资料不足，说明不足可能合理。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依据PDF第2页。重复3次观察结果，并分析精细约束是否降低模板化。三字片段Jaccard只是字面重复线索。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依据PDF第2页。使用完全相同精细提示和主题。工具A为DeepSeek Flash，工具B待配置并真实运行。保留提示全文与截图，不把未运行的工具写成完成。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依据PDF第2页的风险实证分析记录表与多工具汇总表要求。完整原文在网页导出JSON。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依据PDF第3页。完整方案须基于前面测试，不能提前宣称改进效果。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依据PDF第3页。明确哪些内容必须人工核查和提示词无法解决的问题。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八部分为概述、选题复现、模块、提示对照、风险实证、方案、反思、参考文献。依据PDF第3至4页。无抄袭AI文本充当报告主体。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依据PDF第4页评分：20%、20%、30%、25%，格式附录5%。实际数据与截图仍需小组补全。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94a627e0474d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5133ed68d45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70acbe3b1041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47ffe4a35a43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1a335dc844e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315d5f422d49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2472A0-A27D-41FF-B88B-B9D042E5E5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B847935-0A15-48EE-81FC-27C523527A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9958BBF-7588-4701-BEEB-A41C1601F9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BFDB59-FCB9-4552-B8F0-3FEF6FE9FE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410F253-4FE0-4226-B3D0-A36E2B7F6E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669C51-9BF8-44BE-B02B-FA959CB13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38D691-52E7-4E65-B274-E3A2252C84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F3E453-E45A-46BB-99C2-0DD6049EEC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BD7C15-45E9-49A6-912A-C9BBD8EA9A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155761-D12F-428E-9FB7-A95B48EA75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2a2b251fb849ca" /><Relationship Type="http://schemas.openxmlformats.org/officeDocument/2006/relationships/slideLayout" Target="/ppt/slideLayouts/slideLayout1.xml" Id="R487932a319f04b8a" /><Relationship Type="http://schemas.openxmlformats.org/officeDocument/2006/relationships/slideLayout" Target="/ppt/slideLayouts/slideLayout2.xml" Id="R58556d9db16d4d6f" /><Relationship Type="http://schemas.openxmlformats.org/officeDocument/2006/relationships/slideLayout" Target="/ppt/slideLayouts/slideLayout3.xml" Id="Rdd982a15740d4f2b" /><Relationship Type="http://schemas.openxmlformats.org/officeDocument/2006/relationships/slideLayout" Target="/ppt/slideLayouts/slideLayout4.xml" Id="Rf8c61988df8f4f25" /><Relationship Type="http://schemas.openxmlformats.org/officeDocument/2006/relationships/slideLayout" Target="/ppt/slideLayouts/slideLayout5.xml" Id="R2b18f975c8c44e9d" /><Relationship Type="http://schemas.openxmlformats.org/officeDocument/2006/relationships/slideLayout" Target="/ppt/slideLayouts/slideLayout6.xml" Id="R6da09b07389b47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7932a319f04b8a"/>
    <p:sldLayoutId xmlns:r="http://schemas.openxmlformats.org/officeDocument/2006/relationships" id="2147483650" r:id="R58556d9db16d4d6f"/>
    <p:sldLayoutId xmlns:r="http://schemas.openxmlformats.org/officeDocument/2006/relationships" id="2147483651" r:id="Rdd982a15740d4f2b"/>
    <p:sldLayoutId xmlns:r="http://schemas.openxmlformats.org/officeDocument/2006/relationships" id="2147483652" r:id="Rf8c61988df8f4f25"/>
    <p:sldLayoutId xmlns:r="http://schemas.openxmlformats.org/officeDocument/2006/relationships" id="2147483653" r:id="R2b18f975c8c44e9d"/>
    <p:sldLayoutId xmlns:r="http://schemas.openxmlformats.org/officeDocument/2006/relationships" id="2147483654" r:id="R6da09b07389b47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c6599bde0e4ea4" /><Relationship Type="http://schemas.openxmlformats.org/officeDocument/2006/relationships/notesSlide" Target="/ppt/notesSlides/notesSlide1.xml" Id="R53cddeb600e74a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c7f6840bb24013" /><Relationship Type="http://schemas.openxmlformats.org/officeDocument/2006/relationships/notesSlide" Target="/ppt/notesSlides/notesSlide2.xml" Id="Rda8addd8d55a47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16cd0e1ece46a2" /><Relationship Type="http://schemas.openxmlformats.org/officeDocument/2006/relationships/notesSlide" Target="/ppt/notesSlides/notesSlide3.xml" Id="Re6026a14773b4c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46a1db43124a01" /><Relationship Type="http://schemas.openxmlformats.org/officeDocument/2006/relationships/notesSlide" Target="/ppt/notesSlides/notesSlide4.xml" Id="Rc3cec8f7e16c4c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13cdbd315a458d" /><Relationship Type="http://schemas.openxmlformats.org/officeDocument/2006/relationships/notesSlide" Target="/ppt/notesSlides/notesSlide5.xml" Id="Rc0b2d33aa9eb4b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a3a87ec94d4502" /><Relationship Type="http://schemas.openxmlformats.org/officeDocument/2006/relationships/notesSlide" Target="/ppt/notesSlides/notesSlide6.xml" Id="Rc99b2f36e7de4b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1588b9af6f4a4f" /><Relationship Type="http://schemas.openxmlformats.org/officeDocument/2006/relationships/notesSlide" Target="/ppt/notesSlides/notesSlide7.xml" Id="R1464f43b409545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33cbbacf6a4f41" /><Relationship Type="http://schemas.openxmlformats.org/officeDocument/2006/relationships/notesSlide" Target="/ppt/notesSlides/notesSlide8.xml" Id="Ra2671b6b0a3344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a92baa5c2d4a6a" /><Relationship Type="http://schemas.openxmlformats.org/officeDocument/2006/relationships/notesSlide" Target="/ppt/notesSlides/notesSlide9.xml" Id="Rf98b1ccfe0f647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e150146ae74fe7" /><Relationship Type="http://schemas.openxmlformats.org/officeDocument/2006/relationships/notesSlide" Target="/ppt/notesSlides/notesSlide10.xml" Id="R728b018949234f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6b9093dcc34b7d" /><Relationship Type="http://schemas.openxmlformats.org/officeDocument/2006/relationships/notesSlide" Target="/ppt/notesSlides/notesSlide11.xml" Id="R3e49971eaae642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96019c0e464fec" /><Relationship Type="http://schemas.openxmlformats.org/officeDocument/2006/relationships/notesSlide" Target="/ppt/notesSlides/notesSlide12.xml" Id="Rf01b594f143542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359a166cb44056" /><Relationship Type="http://schemas.openxmlformats.org/officeDocument/2006/relationships/notesSlide" Target="/ppt/notesSlides/notesSlide13.xml" Id="R3cef487498c04b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98658d415c40f2" /><Relationship Type="http://schemas.openxmlformats.org/officeDocument/2006/relationships/notesSlide" Target="/ppt/notesSlides/notesSlide14.xml" Id="R3a9b6445911840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925918ee5a42a3" /><Relationship Type="http://schemas.openxmlformats.org/officeDocument/2006/relationships/notesSlide" Target="/ppt/notesSlides/notesSlide15.xml" Id="Rd8bcb6742e2344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09cef037d949b7" /><Relationship Type="http://schemas.openxmlformats.org/officeDocument/2006/relationships/notesSlide" Target="/ppt/notesSlides/notesSlide16.xml" Id="R1b7341279ad1433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ac484078994228" /><Relationship Type="http://schemas.openxmlformats.org/officeDocument/2006/relationships/notesSlide" Target="/ppt/notesSlides/notesSlide17.xml" Id="R53d0cbb93c5247e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56d6a0c03342c6" /><Relationship Type="http://schemas.openxmlformats.org/officeDocument/2006/relationships/notesSlide" Target="/ppt/notesSlides/notesSlide18.xml" Id="R8fb211f6347c469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ef5bf221de4e89" /><Relationship Type="http://schemas.openxmlformats.org/officeDocument/2006/relationships/notesSlide" Target="/ppt/notesSlides/notesSlide19.xml" Id="R42ed27a4b15444b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d0300660994532" /><Relationship Type="http://schemas.openxmlformats.org/officeDocument/2006/relationships/notesSlide" Target="/ppt/notesSlides/notesSlide20.xml" Id="Re1a3b468b2be41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39801-739F-4CAD-B1BF-20B96BA0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rPr>
              <a:t>课程实践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D9C90-CA3E-412F-9C26-E99503C4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4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44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知医医学名词与机制</a:t>
            </a:r>
          </a:p>
          <a:p xmlns:a="http://schemas.openxmlformats.org/drawingml/2006/main">
            <a:pPr>
              <a:defRPr sz="44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44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学习卡片生成器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7E720-A64E-4A23-8C1A-47DCECB0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0694A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0694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50694A"/>
                </a:solidFill>
                <a:latin typeface="Songti SC"/>
                <a:ea typeface="Songti SC"/>
                <a:cs typeface="Songti SC"/>
              </a:rPr>
              <a:t>基于可溯源知识库与提示词约束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09BD0-C404-494D-BC35-27319674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0694A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0694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50694A"/>
                </a:solidFill>
                <a:latin typeface="Songti SC"/>
                <a:ea typeface="Songti SC"/>
                <a:cs typeface="Songti SC"/>
              </a:rPr>
              <a:t>小组成员、班级、课程及展示日期 待填写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0E442-BB99-4FD0-9CD3-DCDD17A6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797520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B4AA3-3A23-4504-9EF8-2D9D2CAB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rPr>
              <a:t>阶段1 选题及平台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2573E-0D18-49BB-9A91-A16ED1B7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项目背景与选题意义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D98D1-6279-42DB-861D-46396B93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应用领域：医学课程学习辅助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FD676-47B7-4280-8B98-2520496E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具体场景：术语与基础机制复习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C4802-D434-4675-BC19-09EC70F4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待填写：课程背景、调研对象与选题依据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ACB31-DEC0-4F51-AD8C-2654CEB6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74112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7F4C4-D153-4A4B-944F-82BA8DCA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rPr>
              <a:t>阶段1 选题及平台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51E0A-7FE1-4C73-AA45-6759E4C3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5至7条痛点调研框架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F5345-AB7E-4B87-83A6-9F1E312F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01 名词多，整理记忆卡片耗时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F2053-9B71-4EA2-8DBD-CF4BB11B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02 机制抽象，因果顺序难理解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22A0D-D761-4954-BDF3-B9E9ADCB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03 相近概念容易混淆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F39A7-AE7B-4F5F-A9E3-CBC32053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04 与教材匹配的自测题不足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DC49E-C76B-429B-AECE-7C4029C0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05 通用AI解释可能超纲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69F7F-38EB-46E1-A9B0-29688A13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06 AI可能编造出处或数值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D9C21-1E5D-4BB2-9E43-92021144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149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19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07 生成表达同质化，以上均待调研验证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041D2-D497-47E4-8F1C-14C3355E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054669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86D4B-EC78-4BDD-A006-FEF82DA7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rPr>
              <a:t>阶段1 选题及平台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C0A34-02DF-4F31-878F-73C70BC9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目标用户与使用场景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9D886-C335-475F-AE9F-14C71CF4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目标用户：医学生，实际年级与课程待填写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03C15-D1EC-4958-BD0E-F0B360BF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输入术语后复习机制，主动回忆并完成自测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68949-B057-48C5-804D-5644D4CC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待填写：具体教材版次与章节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A8111-C8A2-4C0E-B752-E316D9B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336861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E5CA1-A1CF-4926-A3AE-E1A8D9B4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rPr>
              <a:t>阶段1 选题及平台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0D19A-9D6E-471F-B01D-2455D260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预期能力与能力边界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77219-BA6C-48DB-8427-F3502F2A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解释与机制，辨析、记忆卡片及自测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C62F5-C1AC-4BAF-884A-36C9017D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展示资料片段并标注不确定信息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BF33E-DF6B-4F3E-98CB-F2C590B4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不能替代教材或提供个人诊疗建议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5FFFF-7D37-4B7C-ACA2-1CA9F338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不能保证覆盖全部版本或消除幻觉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87391-D765-4280-B659-7EFA27B1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592960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279B6-9B4E-4099-936E-873D205C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rPr>
              <a:t>阶段1 选题及平台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BADFF-2828-41DD-B537-79FD03B3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拟采用的平台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77963-9F88-4F95-9FDC-6B3DE983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自建网页及Node.js后端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532AF-57D0-4A11-8B39-9DF5D562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DeepSeek Flash通过后端API生成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6264E-2A00-4CDF-AA96-3537CDC4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本地知识资料，支持教材PDF导入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7AAE6-6072-4982-9BDD-1E5480F6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475614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3CD5E-9E0E-4DE5-A68B-07B6390E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rPr>
              <a:t>阶段2 实际操作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51B62-945D-420E-BC32-DDC1EA67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痛点与功能模块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E8FDF-E200-4853-8EBE-F21347EE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解释机制与概念辨析对应理解困难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13E2B-26A8-44D0-9258-180E4C6C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记忆卡片与自测对应复习整理需求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A99E1-DCFA-41F8-A098-ADBDD69C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风险标注与来源对应证据核查需求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C11C9-C400-47EC-B2A6-4BA189B6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16324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31F32-829F-4D83-B42C-31C17EA3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rPr>
              <a:t>阶段2 实际操作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46135-A436-42A1-9AF4-1E50B979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提示词库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E6ACF-CF92-4590-80B8-922BBF55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每个模块保留任务、输入、输出和边界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171FD-5762-4F9E-822C-6E894167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五模块提示在独立文档和网页中可查看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CADB3-9431-46C3-BC11-4BA91C56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实际实验保留messages全文与资料快照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972F2-243A-4150-B7A5-0A37557B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699732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F11B0-D4A9-4540-BC38-71F7B95D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rPr>
              <a:t>阶段2 实际操作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882A3-77BD-4245-A85E-F28F9FF0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粗放与精细提示对照设计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19D28-340E-4EF0-BF7F-1E70FEA9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相同主题、资料、输出结构与参数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DA472-AA35-4027-B587-33416760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两组只改变系统提示约束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E2B6E-D532-45B5-81B8-805B1809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观察结构、事实、逻辑、不确定信息与创意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BE0CD-2245-46EC-B828-A36B6243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69804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095B1-8F81-41C6-9DE9-9D956F05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rPr>
              <a:t>阶段2 实际操作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55C31-BD4B-425D-A67E-4C3E5737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对照实验结果记录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6D06F-CC57-411A-9E7D-B9A42AFE53A5}"/>
              </a:ext>
            </a:extLst>
          </p:cNvPr>
          <p:cNvGraphicFramePr/>
          <p:nvPr/>
        </p:nvGraphicFramePr>
        <p:xfrm>
          <a:off xmlns:a="http://schemas.openxmlformats.org/drawingml/2006/main" x="723900" y="2305050"/>
          <a:ext xmlns:a="http://schemas.openxmlformats.org/drawingml/2006/main" cx="10668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667000"/>
                <a:gridCol w="2667000"/>
                <a:gridCol w="2667000"/>
              </a:tblGrid>
              <a:tr h="7381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E4F"/>
                          </a:solidFill>
                          <a:latin typeface="Songti SC"/>
                          <a:ea typeface="Songti SC"/>
                          <a:cs typeface="Songti SC"/>
                        </a:rPr>
                        <a:t>序号与主题</a:t>
                      </a:r>
                    </a:p>
                  </a:txBody>
                  <a:tcPr marL="152400" marR="152400" marT="114300" marB="114300">
                    <a:solidFill>
                      <a:srgbClr val="E1E9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E4F"/>
                          </a:solidFill>
                          <a:latin typeface="Songti SC"/>
                          <a:ea typeface="Songti SC"/>
                          <a:cs typeface="Songti SC"/>
                        </a:rPr>
                        <a:t>粗放简评</a:t>
                      </a:r>
                    </a:p>
                  </a:txBody>
                  <a:tcPr marL="152400" marR="152400" marT="114300" marB="114300">
                    <a:solidFill>
                      <a:srgbClr val="E1E9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E4F"/>
                          </a:solidFill>
                          <a:latin typeface="Songti SC"/>
                          <a:ea typeface="Songti SC"/>
                          <a:cs typeface="Songti SC"/>
                        </a:rPr>
                        <a:t>精细简评</a:t>
                      </a:r>
                    </a:p>
                  </a:txBody>
                  <a:tcPr marL="152400" marR="152400" marT="114300" marB="114300">
                    <a:solidFill>
                      <a:srgbClr val="E1E9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E4F"/>
                          </a:solidFill>
                          <a:latin typeface="Songti SC"/>
                          <a:ea typeface="Songti SC"/>
                          <a:cs typeface="Songti SC"/>
                        </a:rPr>
                        <a:t>截图编号</a:t>
                      </a:r>
                    </a:p>
                  </a:txBody>
                  <a:tcPr marL="152400" marR="152400" marT="114300" marB="114300">
                    <a:solidFill>
                      <a:srgbClr val="E1E9DB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P01 心衰</a:t>
                      </a:r>
                    </a:p>
                  </a:txBody>
                  <a:tcPr marL="152400" marR="152400" marT="114300" marB="1143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待填写</a:t>
                      </a:r>
                    </a:p>
                  </a:txBody>
                  <a:tcPr marL="152400" marR="152400" marT="114300" marB="1143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待填写</a:t>
                      </a:r>
                    </a:p>
                  </a:txBody>
                  <a:tcPr marL="152400" marR="152400" marT="114300" marB="1143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P01 A及B</a:t>
                      </a:r>
                    </a:p>
                  </a:txBody>
                  <a:tcPr marL="152400" marR="152400" marT="114300" marB="114300"/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P02 GFR</a:t>
                      </a:r>
                    </a:p>
                  </a:txBody>
                  <a:tcPr marL="152400" marR="152400" marT="114300" marB="1143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待填写</a:t>
                      </a:r>
                    </a:p>
                  </a:txBody>
                  <a:tcPr marL="152400" marR="152400" marT="114300" marB="1143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待填写</a:t>
                      </a:r>
                    </a:p>
                  </a:txBody>
                  <a:tcPr marL="152400" marR="152400" marT="114300" marB="1143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P02 A及B</a:t>
                      </a:r>
                    </a:p>
                  </a:txBody>
                  <a:tcPr marL="152400" marR="152400" marT="114300" marB="114300"/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P03 炎症因子</a:t>
                      </a:r>
                    </a:p>
                  </a:txBody>
                  <a:tcPr marL="152400" marR="152400" marT="114300" marB="1143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待填写</a:t>
                      </a:r>
                    </a:p>
                  </a:txBody>
                  <a:tcPr marL="152400" marR="152400" marT="114300" marB="1143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待填写</a:t>
                      </a:r>
                    </a:p>
                  </a:txBody>
                  <a:tcPr marL="152400" marR="152400" marT="114300" marB="1143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P03 A及B</a:t>
                      </a:r>
                    </a:p>
                  </a:txBody>
                  <a:tcPr marL="152400" marR="152400" marT="114300" marB="11430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B1CA7-383E-4D01-A9DC-FC1601EA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859079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859079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859079"/>
                </a:solidFill>
                <a:latin typeface="Songti SC"/>
                <a:ea typeface="Songti SC"/>
                <a:cs typeface="Songti SC"/>
              </a:rPr>
              <a:t>实际数据、评价与截图待小组补充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C09CE-7407-47F3-B030-306821B0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098211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C9CE9-C05B-425C-B365-F169352D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rPr>
              <a:t>阶段2 实际操作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07BCE-A700-427D-AA9A-9D696A51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应用与模块成果展示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1955C-52A3-48A3-B7F6-8836B74E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待插入 M01：学习内容和来源片段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987D8-C81E-4FC6-9EDE-99F6BE8F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待插入 M02：翻面卡片与自测反馈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A1892-565A-4F0D-A51C-4B8F3FEC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待插入 M03：教材导入与检索结果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C7FB8-4121-4FFF-A0EF-76BE4943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497000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96AD4-7D53-43CB-83F4-27B1B13E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rPr>
              <a:t>阶段3 风险实证分析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5106A-3CFF-414C-B9DC-F264B663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事实幻觉专项测试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0AF4B-0F8F-4754-9A33-EF788421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H01：不存在的滤过定律与原始论文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6F958-4F42-4523-9FAC-BE613F44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H02：教材第888页逐字定义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FD72A-0604-4696-8786-122D6B2F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H03：IL 999精确正常浓度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280CE-9C75-4FC0-9F24-A12E0C17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记录虚构频次及精细约束后仍存在的风险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895F6-C1DD-441E-A032-D657C0E9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208653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22EC7-21CF-4391-8B19-C8EF192D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rPr>
              <a:t>阶段3 风险实证分析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19A15-3316-4373-AE9D-9D1017E6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逻辑缺陷专项测试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C3815-58A9-4E87-855C-2AA54E2B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L01：正常射血分数能否排除心衰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14D70-112A-4C57-9A9D-4B578CD4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L02：GFR与尿量是否完全相同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C98E8-6E47-42DF-9DE0-377C00C9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L03：所有细胞因子是否仅有促炎作用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0B55C-9104-4A5D-BE2D-C7E19EC3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记录逻辑错误类型与精细提示改善情况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65529-4982-47CF-AFC4-4E63E4D7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414135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30F93-2B2F-46C3-82B0-90E01D57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rPr>
              <a:t>阶段3 风险实证分析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5A303-1B9E-4F6B-824D-7CB5BDC0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同质化专项测试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796C8-9573-4BCF-8049-F18F640B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同一个任务，粗放与精细各重复3次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DB30F-C3BA-4356-92EB-FE03508B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观察知识点、表达、风格与遗漏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90149-2C2B-4796-91B6-35372757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记录组内文本相似度，人工核查同质化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B28B1-A5CC-41F4-9918-92F9358B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待填写：六次输出及改善分析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EB05E-72CE-40E0-97F1-2618CBB5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114570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196B2-9ABD-4393-BE3B-E9EC9D63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rPr>
              <a:t>阶段3 风险实证分析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6624B-3975-48C9-B5D9-4BF9C290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横向多工具比较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20B63-402D-467E-A1A2-E71C8A45D6EF}"/>
              </a:ext>
            </a:extLst>
          </p:cNvPr>
          <p:cNvGraphicFramePr/>
          <p:nvPr/>
        </p:nvGraphicFramePr>
        <p:xfrm>
          <a:off xmlns:a="http://schemas.openxmlformats.org/drawingml/2006/main" x="723900" y="2305050"/>
          <a:ext xmlns:a="http://schemas.openxmlformats.org/drawingml/2006/main" cx="10668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56000"/>
                <a:gridCol w="3556000"/>
                <a:gridCol w="3556000"/>
              </a:tblGrid>
              <a:tr h="7381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E4F"/>
                          </a:solidFill>
                          <a:latin typeface="Songti SC"/>
                          <a:ea typeface="Songti SC"/>
                          <a:cs typeface="Songti SC"/>
                        </a:rPr>
                        <a:t>维度</a:t>
                      </a:r>
                    </a:p>
                  </a:txBody>
                  <a:tcPr marL="152400" marR="152400" marT="114300" marB="114300">
                    <a:solidFill>
                      <a:srgbClr val="E1E9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E4F"/>
                          </a:solidFill>
                          <a:latin typeface="Songti SC"/>
                          <a:ea typeface="Songti SC"/>
                          <a:cs typeface="Songti SC"/>
                        </a:rPr>
                        <a:t>DeepSeek Flash</a:t>
                      </a:r>
                    </a:p>
                  </a:txBody>
                  <a:tcPr marL="152400" marR="152400" marT="114300" marB="114300">
                    <a:solidFill>
                      <a:srgbClr val="E1E9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E4F"/>
                          </a:solidFill>
                          <a:latin typeface="Songti SC"/>
                          <a:ea typeface="Songti SC"/>
                          <a:cs typeface="Songti SC"/>
                        </a:rPr>
                        <a:t>工具B待填写</a:t>
                      </a:r>
                    </a:p>
                  </a:txBody>
                  <a:tcPr marL="152400" marR="152400" marT="114300" marB="114300">
                    <a:solidFill>
                      <a:srgbClr val="E1E9DB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结构与内容质量</a:t>
                      </a:r>
                    </a:p>
                  </a:txBody>
                  <a:tcPr marL="152400" marR="152400" marT="114300" marB="1143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待核查</a:t>
                      </a:r>
                    </a:p>
                  </a:txBody>
                  <a:tcPr marL="152400" marR="152400" marT="114300" marB="1143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待真实运行</a:t>
                      </a:r>
                    </a:p>
                  </a:txBody>
                  <a:tcPr marL="152400" marR="152400" marT="114300" marB="114300"/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幻觉频次与逻辑</a:t>
                      </a:r>
                    </a:p>
                  </a:txBody>
                  <a:tcPr marL="152400" marR="152400" marT="114300" marB="1143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待核查</a:t>
                      </a:r>
                    </a:p>
                  </a:txBody>
                  <a:tcPr marL="152400" marR="152400" marT="114300" marB="1143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待真实运行</a:t>
                      </a:r>
                    </a:p>
                  </a:txBody>
                  <a:tcPr marL="152400" marR="152400" marT="114300" marB="114300"/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输出风格与证据</a:t>
                      </a:r>
                    </a:p>
                  </a:txBody>
                  <a:tcPr marL="152400" marR="152400" marT="114300" marB="1143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待核查</a:t>
                      </a:r>
                    </a:p>
                  </a:txBody>
                  <a:tcPr marL="152400" marR="152400" marT="114300" marB="11430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34"/>
                          </a:solidFill>
                          <a:latin typeface="Songti SC"/>
                          <a:ea typeface="Songti SC"/>
                          <a:cs typeface="Songti SC"/>
                        </a:rPr>
                        <a:t>待真实运行</a:t>
                      </a:r>
                    </a:p>
                  </a:txBody>
                  <a:tcPr marL="152400" marR="152400" marT="114300" marB="11430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51A47-6FD7-4EDB-AC8E-AA696572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859079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859079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859079"/>
                </a:solidFill>
                <a:latin typeface="Songti SC"/>
                <a:ea typeface="Songti SC"/>
                <a:cs typeface="Songti SC"/>
              </a:rPr>
              <a:t>实际数据、评价与截图待小组补充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2F017-3CED-45DA-A624-58A50B41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816561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E9DDB-D78A-45C1-8384-EA100C99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rPr>
              <a:t>阶段3 风险实证分析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CD116-42BF-46E4-8F25-4D3564C2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风险实证记录与关键截图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829FA-A76E-4B24-BA37-D353438E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每项记录输入提示、现象描述与分析结论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CA115-41FC-4ED2-BA4D-A5861A8C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待插入 H01至H03、L01至L03专项截图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D06A7-8AF7-453F-A5F1-33AD3924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待插入 S01与T01至T03关键截图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FD866-7094-49D9-AC6D-7AA03777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提示词、输出截图和实验ID一一对应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E4099-D21F-456F-BD44-2643F675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942831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887CC-579C-42AE-80BC-27337516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rPr>
              <a:t>阶段4 完整方案与报告整合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A563E-1ADD-49B7-A075-F3387A7C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优化后的提示词应用方案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60811-5BD4-4A50-9399-20637E24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适用用户与场景限定在课程复习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53741-B519-49CA-938A-C93FCAA5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检索并核查资料后分步学习与自测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BF9E3-7F72-4743-94B1-C72D0944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基于真实测试发现修订提示和资料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5E0F9-723A-44C7-891C-B72BA500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待填写：问题、改动和同题复测证据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D821F-2CA8-4FC2-B24C-BA0A0BCE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223965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EBD2D-67C7-42FE-9867-1BCA535A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rPr>
              <a:t>阶段4 完整方案与报告整合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EE107-7DD4-47D7-90C6-220CD875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风险规避与方案局限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68FE1-2B9F-4BBF-B7CB-2A1E6FF2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交叉核查定义、因果、数值和教材版本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D9F93-1B3F-4124-88F2-4E6644A5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检查引用是否真的支持结论与唯一答案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CFB96-4257-4960-A587-1CD8495A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资料不足、检索漏检与模型更新仍影响结果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1B207-23FE-4ADE-9FEF-D0AFEFD8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提示词手段不能完全解决幻觉与覆盖问题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91580-9D3D-422F-8F69-E723EC9E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494192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89E40-AEC7-4DEA-BB92-58B71FBF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rPr>
              <a:t>阶段4 完整方案与报告整合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124B8-8C83-4B39-9E50-EFE88F5F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完整实践报告与反思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2611F-5C9B-4B48-9902-94B5CCE9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报告按课程要求的八部分组织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C14DF-22B8-4ED3-8980-11E76E04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附录收录提示词原文和截图说明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AAFDA-D313-413E-B240-ED5F073E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待填写：实际结论、个人贡献与独立反思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12EE0-A3A2-4C69-B288-5BB62AAD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658988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17430-02F5-4EFE-8065-BF07E91F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6E8364"/>
                </a:solidFill>
                <a:latin typeface="Songti SC"/>
                <a:ea typeface="Songti SC"/>
                <a:cs typeface="Songti SC"/>
              </a:rPr>
              <a:t>提交检查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96DD1-542B-4910-A980-3DA8E2E9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defRPr>
            </a:pPr>
            <a:r>
              <a:rPr sz="3225" b="1">
                <a:solidFill>
                  <a:srgbClr val="245E4F"/>
                </a:solidFill>
                <a:latin typeface="Songti SC"/>
                <a:ea typeface="Songti SC"/>
                <a:cs typeface="Songti SC"/>
              </a:rPr>
              <a:t>四阶段交付检查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4BEE3-0D5A-4091-B434-7911DB16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阶段1：选题PPT，真实痛点5至7条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E59C8-7725-41CF-8BAA-BAF1968C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阶段2：提示词文档、应用展示和对照记录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A90B1-6FC4-4337-8006-19D8140E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阶段3：专项记录、多工具汇总与关键截图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270D9-F0F3-489A-BC30-65CE504A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3C5040"/>
                </a:solidFill>
                <a:latin typeface="Songti SC"/>
                <a:ea typeface="Songti SC"/>
                <a:cs typeface="Songti SC"/>
              </a:rPr>
              <a:t>阶段4：完整报告与可展示智能体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A335A-7F60-430C-AD62-90359B3C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8B9784"/>
                </a:solidFill>
                <a:latin typeface="Songti SC"/>
                <a:ea typeface="Songti SC"/>
                <a:cs typeface="Songti S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14768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2026-10-10T13:51:52.3020000Z</dcterms:created>
  <dcterms:modified xsi:type="dcterms:W3CDTF">2026-10-10T13:51:52.3020000Z</dcterms:modified>
</coreProperties>
</file>